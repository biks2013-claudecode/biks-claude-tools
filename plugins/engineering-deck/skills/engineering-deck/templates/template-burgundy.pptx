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 (ms)</c:v>
                </c:pt>
              </c:strCache>
            </c:strRef>
          </c:tx>
          <c:spPr>
            <a:solidFill>
              <a:srgbClr val="8B26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k=50</c:v>
                </c:pt>
                <c:pt idx="1">
                  <c:v>k=100</c:v>
                </c:pt>
                <c:pt idx="2">
                  <c:v>k=200</c:v>
                </c:pt>
                <c:pt idx="3">
                  <c:v>k=500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240</c:v>
                </c:pt>
                <c:pt idx="2">
                  <c:v>410</c:v>
                </c:pt>
                <c:pt idx="3">
                  <c:v>890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6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3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6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Εξώφυλλο — θέμα, ομιλητής, ημερομηνία.
ΠΟΤΕ ΝΑ ΤΟ ΧΡΗΣΙΜΟΠΟΙΗΣΕΙΣ:
• Πάντα το πρώτο slide.
• Τίτλος έως 8 λέξεις — τα υπόλοιπα στον υπότιτλο.
• Ο υπότιτλος λέει το επιχείρημα, όχι το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Meta-slide που εξηγεί το template σε όποιον ανοίξει το αρχείο.
ΠΟΤΕ ΝΑ ΤΟ ΧΡΗΣΙΜΟΠΟΙΗΣΕΙΣ:
• Σβήσ' το πριν παραδώσεις ένα πραγματικό deck.
• Κράτα τους τίτλους στα ελληνικά για να ξεχωρίζει ως meta-slide.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Χάρτης της ομιλίας — 4 έως 6 ενότητες.
ΠΟΤΕ ΝΑ ΤΟ ΧΡΗΣΙΜΟΠΟΙΗΣΕΙΣ:
• Πάνω από 6 γραμμές δεν χωράνε — ομαδοποίησε.
• Ο υπότιτλος κάθε γραμμής είναι μία φράση, όχι πρόταση.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Διαχωριστικό ενότητας — σηματοδοτεί αλλαγή θέματος.
ΠΟΤΕ ΝΑ ΤΟ ΧΡΗΣΙΜΟΠΟΙΗΣΕΙΣ:
• Αύξησε τον αριθμό σε κάθε νέα ενότητα.
• Ίδια δομή σε όλα τα dividers — μην την παραλλάσσεις.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Slide περιεχομένου με ιεραρχία — κύρια σημεία και sub-bullets.
ΠΟΤΕ ΝΑ ΤΟ ΧΡΗΣΙΜΟΠΟΙΗΣΕΙΣ:
• Μέχρι 3 κύρια σημεία ανά slide.
• Κύρια σε bold ink, sub-bullets σε muted grey.
• Το callout κρατά ΈΝΑ μήνυμα — root cause ή απόφαση, όχι περίληψη.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Δύο επιλογές ίσου βάρους — το κλασικό slide του design review.
ΠΟΤΕ ΝΑ ΤΟ ΧΡΗΣΙΜΟΠΟΙΗΣΕΙΣ:
• Ίδιο μήκος και στις δύο στήλες, αλλιώς φαίνεται προκατειλημμένο.
• Αν έχεις ήδη αποφασίσει, πες το στο επόμενο slide.
• ΠΟΤΕ γραμμή κάτω από τους υπότιτλους — δείχνει AI-generated.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Διάγραμμα αρχιτεκτονικής με ερμηνευτικό κείμενο δίπλα.
ΠΟΤΕ ΝΑ ΤΟ ΧΡΗΣΙΜΟΠΟΙΗΣΕΙΣ:
• Κάθε διάγραμμα θέλει λεζάντα ΚΑΙ πηγή (ADR, RFC, repo path).
• Το κείμενο λέει τι να δει το κοινό — δεν αφηγείται τα κουτιά.
• Export στο 2× του μεγέθους τοποθέτησης για να μένει καθαρό.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Τρεις παράλληλες αρχές, εγγυήσεις ή components.
ΠΟΤΕ ΝΑ ΤΟ ΧΡΗΣΙΜΟΠΟΙΗΣΕΙΣ:
• Ακριβώς 3 — ούτε 2 ούτε 4.
• MECE: να μην επικαλύπτονται και να καλύπτουν το θέμα.
• 4 components → ομαδοποίησε δύο, ή χρησιμοποίησε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Ένα και μόνο ποσοτικό εύρημα σε πρώτο πλάνο.
ΠΟΤΕ ΝΑ ΤΟ ΧΡΗΣΙΜΟΠΟΙΗΣΕΙΣ:
• Στρογγυλοί αριθμοί — 62%, όχι 61.7%.
• ΠΑΝΤΑ ανάφερε συνθήκες: percentile, φορτίο, δείγμα, περίοδο.
• Ένα τέτοιο slide ανά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Σύγκριση τρέχουσας και προτεινόμενης κατάστασης.
ΠΟΤΕ ΝΑ ΤΟ ΧΡΗΣΙΜΟΠΟΙΗΣΕΙΣ:
• Ίδιος αριθμός bullets και στις δύο κάρτες.
• Παράλληλα: το bullet n δεξιά απαντά στο bullet n αριστερά.
• Η δεξιά κάρτα έχει accent border — εκεί πάει το βλέμμα.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Design tenet ή εύρημα postmortem που αξίζει δικό του slide.
ΠΟΤΕ ΝΑ ΤΟ ΧΡΗΣΙΜΟΠΟΙΗΣΕΙΣ:
• Έως 30 λέξεις.
• Ένα ανά deck — αλλιώς χάνει τη δύναμή του.
• Πάντα με απόδοση πηγής.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Benchmark με ερμηνεία δίπλα.
ΠΟΤΕ ΝΑ ΤΟ ΧΡΗΣΙΜΟΠΟΙΗΣΕΙΣ:
• ΠΟΤΕ chart χωρίς το πάνελ ερμηνείας δεξιά.
• Ένα series ανά chart — αλλιώς χάνεται το μήνυμα.
• Πάντα ανάφερε το commit ή το dataset του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Ακολουθία 3–5 σταδίων: pipeline, request path, rollout.
ΠΟΤΕ ΝΑ ΤΟ ΧΡΗΣΙΜΟΠΟΙΗΣΕΙΣ:
• Οι τίτλοι είναι μονολεκτικοί.
• Βάλε το budget κάθε σταδίου στο body — αυτό το κάνει χρήσιμο σε review.
• Πάνω από 5 στάδια → σπάσ' το σε δύο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Πίνακας σύγκρισης ή benchmark.
ΠΟΤΕ ΝΑ ΤΟ ΧΡΗΣΙΜΟΠΟΙΗΣΕΙΣ:
• Το accent σημαίνει την τιμή που κρίνει την απόφαση — όχι διακόσμηση.
• Πες στη γραμμή πηγής τι σημαίνει το accent.
• Δευτερεύουσες τιμές σε muted. Έως 6 στήλες.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Τα 3 πράγματα που πρέπει να θυμάται το κοινό.
ΠΟΤΕ ΝΑ ΤΟ ΧΡΗΣΙΜΟΠΟΙΗΣΕΙΣ:
• Ακριβώς 3.
• Το τρίτο είναι actionable: απόφαση, owner, ημερομηνία.
• Σε design review, το τρίτο είναι αυτό που ζητάς από την αίθουσα.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Πηγές: papers, RFCs, ADRs, repos, dashboards.
ΠΟΤΕ ΝΑ ΤΟ ΧΡΗΣΙΜΟΠΟΙΗΣΕΙΣ:
• Έως 4 εγγραφές ανά slide — μετά δεύτερο slide.
• Κάθε νούμερο και κάθε διάγραμμα του deck να είναι traceable εδώ.
• Ποτέ μη μικραίνεις τη γραμματοσειρά για να χωρέσουν.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Slide κλεισίματος που μένει στην οθόνη στις ερωτήσεις.
ΠΟΤΕ ΝΑ ΤΟ ΧΡΗΣΙΜΟΠΟΙΗΣΕΙΣ:
• Πάντα με στοιχεία επικοινωνίας — γι' αυτό υπάρχει.
• Σε εσωτερική ομιλία, βάλε και πού συνεχίζεται η συζήτηση.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ΠΡΟΟΡΙΣΜΟΣ: Εσωτερικό φύλλο αναφοράς με τα design tokens.
ΠΟΤΕ ΝΑ ΤΟ ΧΡΗΣΙΜΟΠΟΙΗΣΕΙΣ:
• Κράτα το για συνεργάτες, σβήσ' το για το κοινό.
• Ενημερώνεται μόνο του αν αλλάξεις παλέτα.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TEMPLATE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57200" cy="3657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Title of Your Talk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concise, descriptive subtitle that states the argument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/ Department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ΟΔΗΓΙΕΣ ΧΡΗΣΗΣ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Πώς να χρησιμοποιήσεις αυτό το template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Βασικοί κανόνες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Ένα μήνυμα ανά slide.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Κράτα τα 0.5" περιθώρια — τίποτα δεν τα περνάει.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Το accent χρώμα μόνο για έμφαση, ποτέ για σώμα κειμένου.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Κάθε slide έχει ένα οπτικό στοιχείο.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tokens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659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8B2635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1A1A1A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F5EFE5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8B8680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breaks at current scale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084832"/>
            <a:ext cx="68580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1214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new path works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2651760"/>
            <a:ext cx="68580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8833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6883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9443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measured and under what conditions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218688"/>
            <a:ext cx="68580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1129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get there without downtime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785616"/>
            <a:ext cx="68580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221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822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0782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are asking for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3474720" y="1645920"/>
            <a:ext cx="0" cy="1828800"/>
          </a:xfrm>
          <a:prstGeom prst="line">
            <a:avLst/>
          </a:prstGeom>
          <a:noFill/>
          <a:ln w="12700">
            <a:solidFill>
              <a:srgbClr val="8B2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1828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74904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7490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one-sentence framing of what this section covers.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current path breaks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Re-ranking runs synchronously on every request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340 ms at p95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Scales linearly with candidate count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cache keys on the raw query</a:t>
            </a:r>
            <a:endParaRPr lang="en-US" sz="1300" dirty="0"/>
          </a:p>
          <a:p>
            <a:pPr lvl="1" marL="6858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 rate is 11%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Fallbacks are untested under partial failure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1554480"/>
            <a:ext cx="2560320" cy="2743200"/>
          </a:xfrm>
          <a:prstGeom prst="rect">
            <a:avLst/>
          </a:prstGeom>
          <a:solidFill>
            <a:srgbClr val="F5EFE5"/>
          </a:solidFill>
          <a:ln w="12700">
            <a:solidFill>
              <a:srgbClr val="F5EF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554480"/>
            <a:ext cx="36576" cy="2743200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55080" y="21031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optimised recall and never bounded the candidate set.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ways to bound the candidate 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top-k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the candidate count at ingest time. Latency becomes a function of k alone, so the budget is knowable before the request runs.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p95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Loses recall on long-tail queries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cutoff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expanding candidates once the score gradient flattens. Recall holds on hard queries at the cost of a variable budget.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recall@10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Harder to reason about under load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request 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sentences telling the audience what to look at in the diagram and why it matters.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 moves off the hot path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keys on the embedding, not the query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is explicit and tested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2743200"/>
          </a:xfrm>
          <a:prstGeom prst="rect">
            <a:avLst/>
          </a:prstGeom>
          <a:solidFill>
            <a:srgbClr val="F5EFE5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diagram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 1. Proposed retrieval path. Source: ADR-118.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guarantees the new path keeps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F5EFE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latency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stage has a budget and a timeout. The sum is the SLO, not an emergent property.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5264" y="1645920"/>
            <a:ext cx="640080" cy="640080"/>
          </a:xfrm>
          <a:prstGeom prst="ellipse">
            <a:avLst/>
          </a:prstGeom>
          <a:solidFill>
            <a:srgbClr val="F5EFE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526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55264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fallback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55264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declares what it returns on failure. No silent degradation to an empty set.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53328" y="1645920"/>
            <a:ext cx="640080" cy="640080"/>
          </a:xfrm>
          <a:prstGeom prst="ellipse">
            <a:avLst/>
          </a:prstGeom>
          <a:solidFill>
            <a:srgbClr val="F5EFE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53328" y="24688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Observable stages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53328" y="2926080"/>
            <a:ext cx="2615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Per-stage tracing is on by default, so attribution does not need a redeploy.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time goes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62%</a:t>
            </a:r>
            <a:endParaRPr lang="en-US" sz="14400" dirty="0"/>
          </a:p>
        </p:txBody>
      </p:sp>
      <p:sp>
        <p:nvSpPr>
          <p:cNvPr id="5" name="Shape 3"/>
          <p:cNvSpPr/>
          <p:nvPr/>
        </p:nvSpPr>
        <p:spPr>
          <a:xfrm>
            <a:off x="5029200" y="2011680"/>
            <a:ext cx="0" cy="1463040"/>
          </a:xfrm>
          <a:prstGeom prst="line">
            <a:avLst/>
          </a:prstGeom>
          <a:noFill/>
          <a:ln w="9525">
            <a:solidFill>
              <a:srgbClr val="D8D3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0" y="2011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p95 latency is spent in re-ranking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2651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across 40 production deployments over six weeks, at steady-state load on the current fleet.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latency dashboard, 2026-06.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and proposed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F5EFE5"/>
          </a:solidFill>
          <a:ln w="6350">
            <a:solidFill>
              <a:srgbClr val="D8D3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Synchronous rerank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Unbounded candidate set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at 550 ms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mode: silent empty 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candidates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60604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set capped at k=200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at 210 ms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mode: explicit degraded response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1097280" y="155448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unbounded queue is an outage that has not happened yet.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3657600"/>
            <a:ext cx="365760" cy="18288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886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review INC-2291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latency by candidate count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6002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26480" y="19202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is superlinear beyond k=200 — the knee is the candidate set, not the model.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2648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bench/retrieval, commit a3f21e.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stages, one 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85900" y="2468880"/>
            <a:ext cx="6172200" cy="0"/>
          </a:xfrm>
          <a:prstGeom prst="line">
            <a:avLst/>
          </a:prstGeom>
          <a:noFill/>
          <a:ln w="12700">
            <a:solidFill>
              <a:srgbClr val="D8D3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" y="2103120"/>
            <a:ext cx="731520" cy="73152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to vector, 12 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7540" y="2103120"/>
            <a:ext cx="731520" cy="73152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75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 search, 40 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4940" y="2103120"/>
            <a:ext cx="731520" cy="73152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49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Cross-encoder, capped at 80 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92340" y="2103120"/>
            <a:ext cx="731520" cy="731520"/>
          </a:xfrm>
          <a:prstGeom prst="ellipse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23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29400" y="3017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3832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Streamed, 300 ms to first token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Options against our constraints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Static top-k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210 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0.81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Adaptive cutoff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340 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26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0.89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Two-stage cache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26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195 ms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0.86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bench/retrieval, 2026-07-02. Accent marks the best value per column.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17099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bottleneck is the candidate 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0574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the model, and not the index.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532888"/>
            <a:ext cx="722376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26700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Bounding it costs three points of recall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think that trade is the right 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3493008"/>
            <a:ext cx="722376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11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63040" y="36301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needed by 15 August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9776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Otherwise the migration slips a quarter.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ADR-118 — Bounding the retrieval candidate set. internal/adr/118.md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Author, A. A., &amp; Author, B. B. (2024). Efficient passage ranking. </a:t>
            </a:r>
            <a:pPr indent="0" marL="0">
              <a:lnSpc>
                <a:spcPct val="16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Proceedings of the Conference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(pp. 101–115). https://doi.org/10.0000/example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RFC 9114 — HTTP/3. https://www.rfc-editor.org/rfc/rfc9114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harness — github.com/org/repo/tree/main/bench/retrieval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343400" y="3337560"/>
            <a:ext cx="457200" cy="36576"/>
          </a:xfrm>
          <a:prstGeom prst="rect">
            <a:avLst/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Name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author@org.gr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#team-platform · internal/adr/118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tokens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Χρώματα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20040" cy="274320"/>
          </a:xfrm>
          <a:prstGeom prst="rect">
            <a:avLst/>
          </a:prstGeom>
          <a:solidFill>
            <a:srgbClr val="1A1A1A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1A1A1A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320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13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313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FFFFFF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320040" cy="274320"/>
          </a:xfrm>
          <a:prstGeom prst="rect">
            <a:avLst/>
          </a:prstGeom>
          <a:solidFill>
            <a:srgbClr val="F5EFE5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660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F5EFE5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320040" cy="274320"/>
          </a:xfrm>
          <a:prstGeom prst="rect">
            <a:avLst/>
          </a:prstGeom>
          <a:solidFill>
            <a:srgbClr val="8B2635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8B2635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55848"/>
            <a:ext cx="320040" cy="274320"/>
          </a:xfrm>
          <a:prstGeom prst="rect">
            <a:avLst/>
          </a:prstGeom>
          <a:solidFill>
            <a:srgbClr val="6B1D2A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55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dark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355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6B1D2A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20040" cy="274320"/>
          </a:xfrm>
          <a:prstGeom prst="rect">
            <a:avLst/>
          </a:prstGeom>
          <a:solidFill>
            <a:srgbClr val="8B8680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8B8680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320040" cy="274320"/>
          </a:xfrm>
          <a:prstGeom prst="rect">
            <a:avLst/>
          </a:prstGeom>
          <a:solidFill>
            <a:srgbClr val="D8D3CB"/>
          </a:solidFill>
          <a:ln w="9525">
            <a:solidFill>
              <a:srgbClr val="D8D3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D8D3CB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Τυπογραφία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0" y="19659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 title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44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title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28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number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160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12–14 pt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Eyebrow / footer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6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Calibri 9–10 pt, +3 tracking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0.5" margins · 0.3–0.5" gaps between blocks · Ratio 16:9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3C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84632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86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Presentation Template</dc:title>
  <dc:subject>18-layout reference deck</dc:subject>
  <dc:creator>Template</dc:creator>
  <cp:lastModifiedBy>Template</cp:lastModifiedBy>
  <cp:revision>1</cp:revision>
  <dcterms:created xsi:type="dcterms:W3CDTF">2026-07-26T06:31:01Z</dcterms:created>
  <dcterms:modified xsi:type="dcterms:W3CDTF">2026-07-26T06:31:01Z</dcterms:modified>
</cp:coreProperties>
</file>